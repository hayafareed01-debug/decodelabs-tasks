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649224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Aptos"/>
              </a:rPr>
              <a:t>PHISHING
AWARENESS</a:t>
            </a:r>
            <a:r>
              <a:rPr lang="en-US" sz="4200" b="1">
                <a:solidFill>
                  <a:srgbClr val="F8FAFC"/>
                </a:solidFill>
                <a:latin typeface="Aptos"/>
              </a:rPr>
              <a:t> ANALYSIS</a:t>
            </a:r>
            <a:endParaRPr lang="en-US" sz="42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Analysis of common phishing messages, red flags, risks &amp; safe responses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9334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Aptos"/>
              </a:rPr>
              <a:t>CYBER SECURITY INTERNSHIP  |  DECODE LABS</a:t>
            </a:r>
            <a:endParaRPr sz="13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0" y="1325880"/>
            <a:ext cx="2971800" cy="3474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5087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Aptos"/>
              </a:rPr>
              <a:t>THINK BEFORE YOU CLICK</a:t>
            </a:r>
            <a:endParaRPr sz="1700" b="1">
              <a:solidFill>
                <a:srgbClr val="4ADE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58200" y="2186305"/>
            <a:ext cx="2514600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Pause.
Check the sender.
Inspect the request.
Verify independently.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76935" y="4331335"/>
            <a:ext cx="73399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>
                <a:solidFill>
                  <a:schemeClr val="bg2"/>
                </a:solidFill>
                <a:latin typeface="Bahnschrift SemiBold" panose="020B0502040204020203" charset="0"/>
                <a:cs typeface="Bahnschrift SemiBold" panose="020B0502040204020203" charset="0"/>
              </a:rPr>
              <a:t>Prepared by: Haya Ali</a:t>
            </a:r>
            <a:endParaRPr lang="en-US" altLang="en-US" sz="2000">
              <a:solidFill>
                <a:schemeClr val="bg2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r>
              <a:rPr lang="en-US" altLang="en-US" sz="2000">
                <a:solidFill>
                  <a:schemeClr val="bg2"/>
                </a:solidFill>
                <a:latin typeface="Bahnschrift SemiBold" panose="020B0502040204020203" charset="0"/>
                <a:cs typeface="Bahnschrift SemiBold" panose="020B0502040204020203" charset="0"/>
              </a:rPr>
              <a:t>Project 3 — Phishing Awareness Analysis</a:t>
            </a:r>
            <a:endParaRPr lang="en-US" altLang="en-US" sz="2000">
              <a:solidFill>
                <a:schemeClr val="bg2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What is Phishing?</a:t>
            </a:r>
            <a:endParaRPr sz="30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698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A social-engineering technique used to trick people into revealing information or taking unsafe actions.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3429000" cy="3474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01  IMPOSTOR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377439"/>
            <a:ext cx="297180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An attacker pretends to be a trusted person, company, bank, platform, or service.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429000" cy="3474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ACC15"/>
                </a:solidFill>
                <a:latin typeface="Aptos"/>
              </a:rPr>
              <a:t>02  PRESSURE</a:t>
            </a:r>
            <a:endParaRPr sz="1700" b="1">
              <a:solidFill>
                <a:srgbClr val="FACC1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720" y="2377439"/>
            <a:ext cx="297180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The message creates urgency, fear, curiosity, or excitement to reduce careful decision-making.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2440" y="1737360"/>
            <a:ext cx="3429000" cy="3474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03  ACTION</a:t>
            </a:r>
            <a:endParaRPr sz="1700" b="1">
              <a:solidFill>
                <a:srgbClr val="F8717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39"/>
            <a:ext cx="297180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The victim is pushed to click a link, share information, open an attachment, or perform another action.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How Phishing Messages Manipulate Users</a:t>
            </a:r>
            <a:endParaRPr sz="30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2057400" cy="3063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TRUST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6002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Impersonate a familiar organization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4639" y="1828800"/>
            <a:ext cx="2057400" cy="3063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39" y="20116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ACC15"/>
                </a:solidFill>
                <a:latin typeface="Aptos"/>
              </a:rPr>
              <a:t>EMOTION</a:t>
            </a:r>
            <a:endParaRPr sz="1700" b="1">
              <a:solidFill>
                <a:srgbClr val="FACC1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63239" y="2468880"/>
            <a:ext cx="16002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Trigger fear, urgency, or excitement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66359" y="1828800"/>
            <a:ext cx="2057400" cy="3063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59" y="20116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DECEPTION</a:t>
            </a:r>
            <a:endParaRPr sz="1700" b="1">
              <a:solidFill>
                <a:srgbClr val="F8717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4959" y="2468880"/>
            <a:ext cx="16002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Present a suspicious request or link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2057400" cy="3063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0116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ACTION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26679" y="2468880"/>
            <a:ext cx="16002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Push the recipient to act quickly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829800" y="1828800"/>
            <a:ext cx="2057400" cy="3063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20116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Aptos"/>
              </a:rPr>
              <a:t>IMPACT</a:t>
            </a:r>
            <a:endParaRPr sz="1700" b="1">
              <a:solidFill>
                <a:srgbClr val="4ADE8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0" y="2468880"/>
            <a:ext cx="16002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Information or account security may be compromised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Sample 1 — Fake Bank Account Alert</a:t>
            </a:r>
            <a:endParaRPr sz="30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698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Example created for awareness analysis; the domain is intentionally fictional.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07492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MESSAGE SNAPSHOT</a:t>
            </a:r>
            <a:endParaRPr sz="1700" b="1">
              <a:solidFill>
                <a:srgbClr val="F8717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61772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“Your account will be suspended within 24 hours unless you verify your information immediately.”
Suspicious link:
secure-bank-verification.example.com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80760" y="1600200"/>
            <a:ext cx="539496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ACC15"/>
                </a:solidFill>
                <a:latin typeface="Aptos"/>
              </a:rPr>
              <a:t>KEY RED FLAGS</a:t>
            </a:r>
            <a:endParaRPr sz="1700" b="1">
              <a:solidFill>
                <a:srgbClr val="FACC1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9377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• Urgent/threatening language
• Account suspension warning
• Request for sensitive information
• Suspicious verification link
• Vague sender identity
RISK: Credential theft or unauthorized account access.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Sample 2 — Fake Prize / Reward Message</a:t>
            </a:r>
            <a:endParaRPr sz="30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698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Unexpected rewards are a common lure in phishing and scam messages.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07492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ACC15"/>
                </a:solidFill>
                <a:latin typeface="Aptos"/>
              </a:rPr>
              <a:t>MESSAGE SNAPSHOT</a:t>
            </a:r>
            <a:endParaRPr sz="1700" b="1">
              <a:solidFill>
                <a:srgbClr val="FACC1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61772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“You have been selected to receive a special reward of Rs. 50,000.”
Suspicious link:
reward-claim.example.com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80760" y="1600200"/>
            <a:ext cx="539496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KEY RED FLAGS</a:t>
            </a:r>
            <a:endParaRPr sz="1700" b="1">
              <a:solidFill>
                <a:srgbClr val="F8717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9377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• Unexpected prize
• Large reward amount
• “Expires today” pressure
• Request to verify information
• Suspicious claim link
RISK: Personal-information theft or financial fraud.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Sample 3 — Fake Social Media Security Alert</a:t>
            </a:r>
            <a:endParaRPr sz="30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698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Attackers may use fake login alerts to make users panic and react quickly.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07492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MESSAGE SNAPSHOT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61772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“We noticed a new login attempt on your account. Verify your account within 12 hours.”
Suspicious link:
account-security.example.com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80760" y="1600200"/>
            <a:ext cx="539496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KEY RED FLAGS</a:t>
            </a:r>
            <a:endParaRPr sz="1700" b="1">
              <a:solidFill>
                <a:srgbClr val="F8717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9377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• Fear of unauthorized login
• Threat of account locking
• Urgent verification request
• Suspicious link
• Vague “Security Team” sender
RISK: Credential theft and unauthorized account access.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Common Phishing Red Flags</a:t>
            </a:r>
            <a:endParaRPr sz="30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698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Use these indicators as a quick checklist before responding.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383280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URGENCY</a:t>
            </a:r>
            <a:endParaRPr sz="1700" b="1">
              <a:solidFill>
                <a:srgbClr val="F8717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9260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“Act now” / short deadlines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ACC15"/>
                </a:solidFill>
                <a:latin typeface="Aptos"/>
              </a:rPr>
              <a:t>UNEXPECTED REQUEST</a:t>
            </a:r>
            <a:endParaRPr sz="1700" b="1">
              <a:solidFill>
                <a:srgbClr val="FACC1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29260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Unusual alert, prize, or account notice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2440" y="1600200"/>
            <a:ext cx="3383280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SUSPICIOUS LINK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29260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Unfamiliar or misleading domain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3749039"/>
            <a:ext cx="3383280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Aptos"/>
              </a:rPr>
              <a:t>SENSITIVE DATA</a:t>
            </a:r>
            <a:endParaRPr sz="1700" b="1">
              <a:solidFill>
                <a:srgbClr val="4ADE8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29260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Passwords, codes, or account details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9120" y="3749039"/>
            <a:ext cx="3383280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VAGUE SENDER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17720" y="4389120"/>
            <a:ext cx="29260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Generic team or unusual identity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92440" y="3749039"/>
            <a:ext cx="3383280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EMOTIONAL PRESSURE</a:t>
            </a:r>
            <a:endParaRPr sz="1700" b="1">
              <a:solidFill>
                <a:srgbClr val="F8717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21040" y="4389120"/>
            <a:ext cx="29260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Fear, excitement, or threats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Potential Risks</a:t>
            </a:r>
            <a:endParaRPr sz="30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698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Why identifying phishing early matters.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429000" cy="3566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ACCOUNT TAKEOVER</a:t>
            </a:r>
            <a:endParaRPr sz="1700" b="1">
              <a:solidFill>
                <a:srgbClr val="F8717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97180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Stolen credentials may allow unauthorized access to online accounts.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429000" cy="3566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ACC15"/>
                </a:solidFill>
                <a:latin typeface="Aptos"/>
              </a:rPr>
              <a:t>DATA EXPOSURE</a:t>
            </a:r>
            <a:endParaRPr sz="1700" b="1">
              <a:solidFill>
                <a:srgbClr val="FACC1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Personal or confidential information may be collected by attackers.</a:t>
            </a:r>
            <a:endParaRPr sz="1400"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2440" y="1691640"/>
            <a:ext cx="3429000" cy="3566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FINANCIAL LOSS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2331720"/>
            <a:ext cx="297180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Phishing can be used as a starting point for fraudulent activity.</a:t>
            </a:r>
            <a:endParaRPr sz="2000" b="0">
              <a:solidFill>
                <a:srgbClr val="CB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How to Stay Safe</a:t>
            </a:r>
            <a:endParaRPr sz="30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698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A simple response process for suspicious messages.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01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7320" y="1508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PAUSE</a:t>
            </a:r>
            <a:endParaRPr sz="16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88920" y="1508760"/>
            <a:ext cx="81381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Don't act because a message says it is urgent.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02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20" y="2423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CHECK</a:t>
            </a:r>
            <a:endParaRPr sz="16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88920" y="2423160"/>
            <a:ext cx="81381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Examine the sender, wording, and destination carefully.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03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VERIFY</a:t>
            </a:r>
            <a:endParaRPr sz="16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8920" y="3337560"/>
            <a:ext cx="81381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Use the organization's official app, website, or trusted contact.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04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17320" y="4251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PROTECT</a:t>
            </a:r>
            <a:endParaRPr sz="16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88920" y="4251960"/>
            <a:ext cx="81381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Never share passwords or sensitive information through an untrusted request.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51663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05</a:t>
            </a:r>
            <a:endParaRPr sz="1700" b="1">
              <a:solidFill>
                <a:srgbClr val="38BDF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17320" y="5166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REPORT</a:t>
            </a:r>
            <a:endParaRPr sz="16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88920" y="5166360"/>
            <a:ext cx="81381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CBD5E1"/>
                </a:solidFill>
                <a:latin typeface="Aptos"/>
              </a:rPr>
              <a:t>Use the appropriate reporting mechanism for suspicious messages.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Key Takeaways</a:t>
            </a:r>
            <a:endParaRPr sz="30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87171"/>
                </a:solidFill>
                <a:latin typeface="Aptos"/>
              </a:rPr>
              <a:t>STOP</a:t>
            </a:r>
            <a:endParaRPr sz="2800" b="1">
              <a:solidFill>
                <a:srgbClr val="F8717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21945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>
                <a:solidFill>
                  <a:srgbClr val="CBD5E1"/>
                </a:solidFill>
                <a:latin typeface="Aptos"/>
              </a:rPr>
              <a:t>before clicking.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8348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  <a:latin typeface="Aptos"/>
              </a:rPr>
              <a:t>CHECK</a:t>
            </a:r>
            <a:endParaRPr sz="2800" b="1">
              <a:solidFill>
                <a:srgbClr val="FACC1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83480" y="2423160"/>
            <a:ext cx="21945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>
                <a:solidFill>
                  <a:srgbClr val="CBD5E1"/>
                </a:solidFill>
                <a:latin typeface="Aptos"/>
              </a:rPr>
              <a:t>before trusting.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9828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ADE80"/>
                </a:solidFill>
                <a:latin typeface="Aptos"/>
              </a:rPr>
              <a:t>VERIFY</a:t>
            </a:r>
            <a:endParaRPr sz="2800" b="1">
              <a:solidFill>
                <a:srgbClr val="4ADE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98280" y="2423160"/>
            <a:ext cx="21945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>
                <a:solidFill>
                  <a:srgbClr val="CBD5E1"/>
                </a:solidFill>
                <a:latin typeface="Aptos"/>
              </a:rPr>
              <a:t>before sharing.</a:t>
            </a:r>
            <a:endParaRPr b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Phishing awareness turns a rushed click into a careful security decision.</a:t>
            </a:r>
            <a:endParaRPr sz="2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0" y="5166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Aptos"/>
              </a:rPr>
              <a:t>END OF ANALYSIS</a:t>
            </a:r>
            <a:endParaRPr sz="1200" b="1">
              <a:solidFill>
                <a:srgbClr val="38BDF8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3607</Words>
  <Application>WPS Presentation</Application>
  <PresentationFormat>On-screen Show (4:3)</PresentationFormat>
  <Paragraphs>183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Arial Black</vt:lpstr>
      <vt:lpstr>Bahnschrift Condensed</vt:lpstr>
      <vt:lpstr>Bahnschrift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Haya Ali</cp:lastModifiedBy>
  <cp:revision>4</cp:revision>
  <dcterms:created xsi:type="dcterms:W3CDTF">2013-01-27T09:14:00Z</dcterms:created>
  <dcterms:modified xsi:type="dcterms:W3CDTF">2026-09-05T07:14:57Z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708DDB03F3784A46B6C9B8462992D56F_13</vt:lpwstr>
  </property>
</Properties>
</file>